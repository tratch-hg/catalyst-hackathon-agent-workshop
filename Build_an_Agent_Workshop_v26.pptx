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98"/>
    <p:restoredTop sz="94610"/>
  </p:normalViewPr>
  <p:slideViewPr>
    <p:cSldViewPr snapToGrid="0" snapToObjects="1">
      <p:cViewPr varScale="1">
        <p:scale>
          <a:sx n="189" d="100"/>
          <a:sy n="189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342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4CC27-4F3D-7177-0DBD-A10A845AA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FB85E-BFF0-4256-B3D9-3C4ED0862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54F6D-33B9-8918-516E-D54F24795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B3489-7FD1-0772-CCC1-CB6CDF3555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58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ratch-hg/catalyst-hackathon-agent-worksho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tristan.ratchford@hgcapital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548640"/>
            <a:ext cx="3931920" cy="3337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371600"/>
            <a:ext cx="54864" cy="2331720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1371600"/>
            <a:ext cx="1783080" cy="292608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02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workshop }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81051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an Autonomous Agent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2697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0FF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30 Minutes _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85800" y="373075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Tristan Ratchford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415137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CTO, HG Catalyst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32320" y="2560320"/>
            <a:ext cx="1828800" cy="1828800"/>
          </a:xfrm>
          <a:prstGeom prst="ellipse">
            <a:avLst/>
          </a:prstGeom>
          <a:solidFill>
            <a:srgbClr val="3E3330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2862072"/>
            <a:ext cx="1234440" cy="12344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46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agent?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BCB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a workflow, you hardcode the logic.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2176272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an agent, you describe the goal.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90779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0FF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LLM</a:t>
            </a: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reasons about next steps.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3749040"/>
            <a:ext cx="1645920" cy="64008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0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 Loop_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until the goal is met — or it decides it can't be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1874520" cy="2377440"/>
          </a:xfrm>
          <a:prstGeom prst="rect">
            <a:avLst/>
          </a:prstGeom>
          <a:solidFill>
            <a:srgbClr val="3E3330"/>
          </a:solidFill>
          <a:ln w="1905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874520" cy="109728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264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D0FF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PERCEIVE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1325880" cy="0"/>
          </a:xfrm>
          <a:prstGeom prst="line">
            <a:avLst/>
          </a:prstGeom>
          <a:noFill/>
          <a:ln w="6350">
            <a:solidFill>
              <a:srgbClr val="D0FF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2249424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everything available: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history, memory, context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05409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"Find competitors of Acme Corp and email me a summary"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31136" y="2450592"/>
            <a:ext cx="164592" cy="0"/>
          </a:xfrm>
          <a:prstGeom prst="line">
            <a:avLst/>
          </a:prstGeom>
          <a:noFill/>
          <a:ln w="19050">
            <a:solidFill>
              <a:srgbClr val="C8BC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2286000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BCBB"/>
                </a:solidFill>
              </a:rPr>
              <a:t>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50592" y="1261872"/>
            <a:ext cx="1874520" cy="2377440"/>
          </a:xfrm>
          <a:prstGeom prst="rect">
            <a:avLst/>
          </a:prstGeom>
          <a:solidFill>
            <a:srgbClr val="3E3330"/>
          </a:solidFill>
          <a:ln w="1905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50592" y="1261872"/>
            <a:ext cx="1874520" cy="109728"/>
          </a:xfrm>
          <a:prstGeom prst="rect">
            <a:avLst/>
          </a:prstGeom>
          <a:solidFill>
            <a:srgbClr val="8393FF"/>
          </a:solidFill>
          <a:ln w="1270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50592" y="14264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50592" y="16642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839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24912" y="2139696"/>
            <a:ext cx="1325880" cy="0"/>
          </a:xfrm>
          <a:prstGeom prst="line">
            <a:avLst/>
          </a:prstGeom>
          <a:noFill/>
          <a:ln w="6350">
            <a:solidFill>
              <a:srgbClr val="8393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0" y="2249424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what to do next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what it knows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42032" y="305409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"I should search the web for Acme's competitors first"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61688" y="2450592"/>
            <a:ext cx="164592" cy="0"/>
          </a:xfrm>
          <a:prstGeom prst="line">
            <a:avLst/>
          </a:prstGeom>
          <a:noFill/>
          <a:ln w="19050">
            <a:solidFill>
              <a:srgbClr val="C8BC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16552" y="2286000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BCBB"/>
                </a:solidFill>
              </a:rPr>
              <a:t>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81144" y="1261872"/>
            <a:ext cx="1874520" cy="2377440"/>
          </a:xfrm>
          <a:prstGeom prst="rect">
            <a:avLst/>
          </a:prstGeom>
          <a:solidFill>
            <a:srgbClr val="3E3330"/>
          </a:solidFill>
          <a:ln w="1905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81144" y="1261872"/>
            <a:ext cx="1874520" cy="109728"/>
          </a:xfrm>
          <a:prstGeom prst="rect">
            <a:avLst/>
          </a:prstGeom>
          <a:solidFill>
            <a:srgbClr val="8393FF"/>
          </a:solidFill>
          <a:ln w="1270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81144" y="14264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81144" y="16642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839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55464" y="2139696"/>
            <a:ext cx="1325880" cy="0"/>
          </a:xfrm>
          <a:prstGeom prst="line">
            <a:avLst/>
          </a:prstGeom>
          <a:noFill/>
          <a:ln w="6350">
            <a:solidFill>
              <a:srgbClr val="8393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90872" y="2249424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chosen tool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API call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72584" y="305409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web_search("Acme Corp competitors 2024")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2450592"/>
            <a:ext cx="164592" cy="0"/>
          </a:xfrm>
          <a:prstGeom prst="line">
            <a:avLst/>
          </a:prstGeom>
          <a:noFill/>
          <a:ln w="19050">
            <a:solidFill>
              <a:srgbClr val="C8BC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47104" y="2286000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BCBB"/>
                </a:solidFill>
              </a:rPr>
              <a:t>&gt;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11696" y="1261872"/>
            <a:ext cx="1874520" cy="2377440"/>
          </a:xfrm>
          <a:prstGeom prst="rect">
            <a:avLst/>
          </a:prstGeom>
          <a:solidFill>
            <a:srgbClr val="3E3330"/>
          </a:solidFill>
          <a:ln w="19050">
            <a:solidFill>
              <a:srgbClr val="FF83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11696" y="1261872"/>
            <a:ext cx="1874520" cy="109728"/>
          </a:xfrm>
          <a:prstGeom prst="rect">
            <a:avLst/>
          </a:prstGeom>
          <a:solidFill>
            <a:srgbClr val="FF8387"/>
          </a:solidFill>
          <a:ln w="12700">
            <a:solidFill>
              <a:srgbClr val="FF83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11696" y="14264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11696" y="16642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83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986016" y="2139696"/>
            <a:ext cx="1325880" cy="0"/>
          </a:xfrm>
          <a:prstGeom prst="line">
            <a:avLst/>
          </a:prstGeom>
          <a:noFill/>
          <a:ln w="6350">
            <a:solidFill>
              <a:srgbClr val="FF838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21424" y="2249424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 and add 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into context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803136" y="305409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Search returned 5 rivals — loop back to think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257300" y="3803904"/>
            <a:ext cx="6391656" cy="0"/>
          </a:xfrm>
          <a:prstGeom prst="line">
            <a:avLst/>
          </a:prstGeom>
          <a:noFill/>
          <a:ln w="15240">
            <a:solidFill>
              <a:srgbClr val="D0FF2A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257300" y="3794760"/>
            <a:ext cx="0" cy="0"/>
          </a:xfrm>
          <a:prstGeom prst="line">
            <a:avLst/>
          </a:prstGeom>
          <a:noFill/>
          <a:ln w="1524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648956" y="3794760"/>
            <a:ext cx="0" cy="0"/>
          </a:xfrm>
          <a:prstGeom prst="line">
            <a:avLst/>
          </a:prstGeom>
          <a:noFill/>
          <a:ln w="1524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8600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loops until stop_reason = end_turn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02826"/>
          </a:solidFill>
          <a:ln w="12700">
            <a:solidFill>
              <a:srgbClr val="302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vs. Workflows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0" cy="3657600"/>
          </a:xfrm>
          <a:prstGeom prst="line">
            <a:avLst/>
          </a:prstGeom>
          <a:noFill/>
          <a:ln w="19050">
            <a:solidFill>
              <a:srgbClr val="E6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3931920" cy="384048"/>
          </a:xfrm>
          <a:prstGeom prst="rect">
            <a:avLst/>
          </a:prstGeom>
          <a:solidFill>
            <a:srgbClr val="E6DCDC"/>
          </a:solidFill>
          <a:ln w="12700">
            <a:solidFill>
              <a:srgbClr val="E6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Workflow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1005840"/>
            <a:ext cx="3931920" cy="384048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8503920" cy="530352"/>
          </a:xfrm>
          <a:prstGeom prst="rect">
            <a:avLst/>
          </a:prstGeom>
          <a:solidFill>
            <a:srgbClr val="F7F4F3"/>
          </a:solidFill>
          <a:ln w="6350">
            <a:solidFill>
              <a:srgbClr val="E6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545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through the system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746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predetermined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based on observations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075688"/>
            <a:ext cx="8503920" cy="530352"/>
          </a:xfrm>
          <a:prstGeom prst="rect">
            <a:avLst/>
          </a:prstGeom>
          <a:solidFill>
            <a:srgbClr val="F1ECEA"/>
          </a:solidFill>
          <a:ln w="6350">
            <a:solidFill>
              <a:srgbClr val="E6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1122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the next step?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313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— at design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2128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does — at runtime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2642616"/>
            <a:ext cx="8503920" cy="530352"/>
          </a:xfrm>
          <a:prstGeom prst="rect">
            <a:avLst/>
          </a:prstGeom>
          <a:solidFill>
            <a:srgbClr val="F7F4F3"/>
          </a:solidFill>
          <a:ln w="6350">
            <a:solidFill>
              <a:srgbClr val="E6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679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LLM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in a pipeline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7797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3209544"/>
            <a:ext cx="8503920" cy="530352"/>
          </a:xfrm>
          <a:prstGeom prst="rect">
            <a:avLst/>
          </a:prstGeom>
          <a:solidFill>
            <a:srgbClr val="F1ECEA"/>
          </a:solidFill>
          <a:ln w="6350">
            <a:solidFill>
              <a:srgbClr val="E6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46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unexpected inputs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4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or falls through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3467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its way through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0040" y="3776472"/>
            <a:ext cx="8503920" cy="530352"/>
          </a:xfrm>
          <a:prstGeom prst="rect">
            <a:avLst/>
          </a:prstGeom>
          <a:solidFill>
            <a:srgbClr val="F7F4F3"/>
          </a:solidFill>
          <a:ln w="6350">
            <a:solidFill>
              <a:srgbClr val="E6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813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014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number of steps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39136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8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task complete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412"/>
          </a:solidFill>
          <a:ln w="12700">
            <a:solidFill>
              <a:srgbClr val="1A1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Bits AI SRE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69264"/>
            <a:ext cx="1188720" cy="237744"/>
          </a:xfrm>
          <a:prstGeom prst="rect">
            <a:avLst/>
          </a:prstGeom>
          <a:solidFill>
            <a:srgbClr val="9B6BD4"/>
          </a:solidFill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969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before 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9692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scaffolded framework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353312"/>
            <a:ext cx="2194560" cy="292608"/>
          </a:xfrm>
          <a:prstGeom prst="rect">
            <a:avLst/>
          </a:prstGeom>
          <a:solidFill>
            <a:srgbClr val="2D1B4E"/>
          </a:solidFill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353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INVESTIGATION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0" cy="146304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0" y="1792224"/>
            <a:ext cx="2194560" cy="292608"/>
          </a:xfrm>
          <a:prstGeom prst="rect">
            <a:avLst/>
          </a:prstGeom>
          <a:solidFill>
            <a:srgbClr val="2D1B4E"/>
          </a:solidFill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7922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HYPOTHESES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5840" y="2084832"/>
            <a:ext cx="7132320" cy="0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2084832"/>
            <a:ext cx="0" cy="128016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084832"/>
            <a:ext cx="0" cy="128016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0" y="2084832"/>
            <a:ext cx="0" cy="128016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4944" y="2212848"/>
            <a:ext cx="621792" cy="621792"/>
          </a:xfrm>
          <a:prstGeom prst="ellipse">
            <a:avLst/>
          </a:prstGeom>
          <a:solidFill>
            <a:srgbClr val="1A3B30"/>
          </a:solidFill>
          <a:ln w="12700">
            <a:solidFill>
              <a:srgbClr val="5BC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61104" y="2212848"/>
            <a:ext cx="621792" cy="621792"/>
          </a:xfrm>
          <a:prstGeom prst="ellipse">
            <a:avLst/>
          </a:prstGeom>
          <a:solidFill>
            <a:srgbClr val="1A3B30"/>
          </a:solidFill>
          <a:ln w="12700">
            <a:solidFill>
              <a:srgbClr val="5BC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61104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27264" y="2212848"/>
            <a:ext cx="621792" cy="621792"/>
          </a:xfrm>
          <a:prstGeom prst="ellipse">
            <a:avLst/>
          </a:prstGeom>
          <a:solidFill>
            <a:srgbClr val="1A3B30"/>
          </a:solidFill>
          <a:ln w="12700">
            <a:solidFill>
              <a:srgbClr val="5BC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27264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5840" y="2834640"/>
            <a:ext cx="0" cy="73152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-91440" y="2907792"/>
            <a:ext cx="2194560" cy="292608"/>
          </a:xfrm>
          <a:prstGeom prst="rect">
            <a:avLst/>
          </a:prstGeom>
          <a:solidFill>
            <a:srgbClr val="2D1B4E"/>
          </a:solidFill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-91440" y="29077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HYPOTHESIS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2834640"/>
            <a:ext cx="0" cy="73152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74720" y="2907792"/>
            <a:ext cx="2194560" cy="292608"/>
          </a:xfrm>
          <a:prstGeom prst="rect">
            <a:avLst/>
          </a:prstGeom>
          <a:solidFill>
            <a:srgbClr val="2D1B4E"/>
          </a:solidFill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0" y="29077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HYPOTHESIS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138160" y="2834640"/>
            <a:ext cx="0" cy="73152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040880" y="2907792"/>
            <a:ext cx="2194560" cy="292608"/>
          </a:xfrm>
          <a:prstGeom prst="rect">
            <a:avLst/>
          </a:prstGeom>
          <a:solidFill>
            <a:srgbClr val="2D1B4E"/>
          </a:solidFill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40880" y="29077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HYPOTHESIS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3200400"/>
            <a:ext cx="0" cy="73152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474720" y="3273552"/>
            <a:ext cx="2194560" cy="292608"/>
          </a:xfrm>
          <a:prstGeom prst="rect">
            <a:avLst/>
          </a:prstGeom>
          <a:solidFill>
            <a:srgbClr val="2D1B4E"/>
          </a:solidFill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0" y="32735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HYPOTHESES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0" y="3566160"/>
            <a:ext cx="5486400" cy="0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828800" y="3566160"/>
            <a:ext cx="0" cy="91440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0" y="3566160"/>
            <a:ext cx="0" cy="91440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15200" y="3566160"/>
            <a:ext cx="0" cy="91440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554480" y="3657600"/>
            <a:ext cx="548640" cy="548640"/>
          </a:xfrm>
          <a:prstGeom prst="ellipse">
            <a:avLst/>
          </a:prstGeom>
          <a:solidFill>
            <a:srgbClr val="1A3B30"/>
          </a:solidFill>
          <a:ln w="12700">
            <a:solidFill>
              <a:srgbClr val="5BC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5544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H₁₁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97680" y="3657600"/>
            <a:ext cx="548640" cy="548640"/>
          </a:xfrm>
          <a:prstGeom prst="ellipse">
            <a:avLst/>
          </a:prstGeom>
          <a:solidFill>
            <a:srgbClr val="1A3B30"/>
          </a:solidFill>
          <a:ln w="12700">
            <a:solidFill>
              <a:srgbClr val="5BC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976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H₁₂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40880" y="3657600"/>
            <a:ext cx="548640" cy="548640"/>
          </a:xfrm>
          <a:prstGeom prst="ellipse">
            <a:avLst/>
          </a:prstGeom>
          <a:solidFill>
            <a:srgbClr val="1A3B30"/>
          </a:solidFill>
          <a:ln w="12700">
            <a:solidFill>
              <a:srgbClr val="5BC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0408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4206240"/>
            <a:ext cx="0" cy="73152"/>
          </a:xfrm>
          <a:prstGeom prst="line">
            <a:avLst/>
          </a:prstGeom>
          <a:noFill/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474720" y="4279392"/>
            <a:ext cx="2194560" cy="292608"/>
          </a:xfrm>
          <a:prstGeom prst="rect">
            <a:avLst/>
          </a:prstGeom>
          <a:solidFill>
            <a:srgbClr val="2D1B4E"/>
          </a:solidFill>
          <a:ln w="12700">
            <a:solidFill>
              <a:srgbClr val="9B6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74720" y="42793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INVESTIGATION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0" y="4818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4818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17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datadoghq.com/blog/building-bits-ai-sre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412"/>
          </a:solidFill>
          <a:ln w="12700">
            <a:solidFill>
              <a:srgbClr val="1A1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Bits AI SRE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69264"/>
            <a:ext cx="1005840" cy="237744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9692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02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after 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89888" y="9692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ReAct loop + MCP tools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2057400"/>
            <a:ext cx="1554480" cy="1554480"/>
          </a:xfrm>
          <a:prstGeom prst="ellipse">
            <a:avLst/>
          </a:prstGeom>
          <a:solidFill>
            <a:srgbClr val="3E3330"/>
          </a:solidFill>
          <a:ln w="3175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94760" y="20574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FF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0FF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66160" y="1325880"/>
            <a:ext cx="2011680" cy="292608"/>
          </a:xfrm>
          <a:prstGeom prst="rect">
            <a:avLst/>
          </a:prstGeom>
          <a:solidFill>
            <a:srgbClr val="3E3330"/>
          </a:solidFill>
          <a:ln w="12700">
            <a:solidFill>
              <a:srgbClr val="C8BC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1325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fires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618488"/>
            <a:ext cx="0" cy="438912"/>
          </a:xfrm>
          <a:prstGeom prst="line">
            <a:avLst/>
          </a:prstGeom>
          <a:noFill/>
          <a:ln w="12700">
            <a:solidFill>
              <a:srgbClr val="C8BC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3611880"/>
            <a:ext cx="0" cy="274320"/>
          </a:xfrm>
          <a:prstGeom prst="line">
            <a:avLst/>
          </a:prstGeom>
          <a:noFill/>
          <a:ln w="1905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66160" y="3886200"/>
            <a:ext cx="2011680" cy="292608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02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48840" y="2478024"/>
            <a:ext cx="1463040" cy="274320"/>
          </a:xfrm>
          <a:prstGeom prst="rect">
            <a:avLst/>
          </a:prstGeom>
          <a:solidFill>
            <a:srgbClr val="3E3330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4884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fetch_metrics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11880" y="2615184"/>
            <a:ext cx="182880" cy="0"/>
          </a:xfrm>
          <a:prstGeom prst="line">
            <a:avLst/>
          </a:prstGeom>
          <a:noFill/>
          <a:ln w="12700">
            <a:solidFill>
              <a:srgbClr val="D0FF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48840" y="2916936"/>
            <a:ext cx="1463040" cy="274320"/>
          </a:xfrm>
          <a:prstGeom prst="rect">
            <a:avLst/>
          </a:prstGeom>
          <a:solidFill>
            <a:srgbClr val="3E3330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48840" y="2916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query_logs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3054096"/>
            <a:ext cx="182880" cy="0"/>
          </a:xfrm>
          <a:prstGeom prst="line">
            <a:avLst/>
          </a:prstGeom>
          <a:noFill/>
          <a:ln w="12700">
            <a:solidFill>
              <a:srgbClr val="D0FF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32120" y="2478024"/>
            <a:ext cx="1463040" cy="274320"/>
          </a:xfrm>
          <a:prstGeom prst="rect">
            <a:avLst/>
          </a:prstGeom>
          <a:solidFill>
            <a:srgbClr val="3E3330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3212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run_playbook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49240" y="2615184"/>
            <a:ext cx="182880" cy="0"/>
          </a:xfrm>
          <a:prstGeom prst="line">
            <a:avLst/>
          </a:prstGeom>
          <a:noFill/>
          <a:ln w="12700">
            <a:solidFill>
              <a:srgbClr val="D0FF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32120" y="2916936"/>
            <a:ext cx="1463040" cy="274320"/>
          </a:xfrm>
          <a:prstGeom prst="rect">
            <a:avLst/>
          </a:prstGeom>
          <a:solidFill>
            <a:srgbClr val="3E3330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2916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page_engineer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49240" y="3054096"/>
            <a:ext cx="182880" cy="0"/>
          </a:xfrm>
          <a:prstGeom prst="line">
            <a:avLst/>
          </a:prstGeom>
          <a:noFill/>
          <a:ln w="12700">
            <a:solidFill>
              <a:srgbClr val="D0FF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69080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17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MCP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462272"/>
            <a:ext cx="8503920" cy="365760"/>
          </a:xfrm>
          <a:prstGeom prst="rect">
            <a:avLst/>
          </a:prstGeom>
          <a:solidFill>
            <a:srgbClr val="D0FF2A">
              <a:alpha val="12000"/>
            </a:srgbClr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4622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scaffolding was compensating for the absence of a real agent loop."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0" y="4818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4818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17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datadoghq.com/blog/building-bits-ai-sre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7498080" y="877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0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C0C0FB-FDB5-F112-2AE1-605E6D343319}"/>
              </a:ext>
            </a:extLst>
          </p:cNvPr>
          <p:cNvSpPr txBox="1"/>
          <p:nvPr/>
        </p:nvSpPr>
        <p:spPr>
          <a:xfrm>
            <a:off x="352269" y="1349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B216D0F-C2BC-AD3D-3C0F-10D99B4D2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419" y="0"/>
            <a:ext cx="6436466" cy="5150946"/>
          </a:xfrm>
          <a:prstGeom prst="rect">
            <a:avLst/>
          </a:prstGeom>
        </p:spPr>
      </p:pic>
      <p:sp>
        <p:nvSpPr>
          <p:cNvPr id="20" name="Text 18"/>
          <p:cNvSpPr/>
          <p:nvPr/>
        </p:nvSpPr>
        <p:spPr>
          <a:xfrm>
            <a:off x="3823391" y="142376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datadoghq.com/blog/building-bits-ai-sre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Tools: How Agents Take 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a function Claude can call. You define what it does — Claude decides when and how to use it.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4340" y="1005840"/>
            <a:ext cx="2606040" cy="3749040"/>
          </a:xfrm>
          <a:prstGeom prst="rect">
            <a:avLst/>
          </a:prstGeom>
          <a:solidFill>
            <a:srgbClr val="3E3330"/>
          </a:solidFill>
          <a:ln w="1905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4340" y="1005840"/>
            <a:ext cx="2606040" cy="73152"/>
          </a:xfrm>
          <a:prstGeom prst="rect">
            <a:avLst/>
          </a:prstGeom>
          <a:solidFill>
            <a:srgbClr val="D0F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8932" y="113385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" y="1426464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Python on the fly — no pre-existing script needed.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8932" y="1956816"/>
            <a:ext cx="227685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8932" y="2066544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 CSV or JSON 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8932" y="230428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messy data and extract the fields you care about.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932" y="299923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calculations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" y="323697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models, data analysis, or transformations in seconds.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8932" y="393192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" y="4169664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text or API responses into clean, usable data.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8980" y="1005840"/>
            <a:ext cx="2606040" cy="3749040"/>
          </a:xfrm>
          <a:prstGeom prst="rect">
            <a:avLst/>
          </a:prstGeom>
          <a:solidFill>
            <a:srgbClr val="3E3330"/>
          </a:solidFill>
          <a:ln w="1905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68980" y="1005840"/>
            <a:ext cx="2606040" cy="73152"/>
          </a:xfrm>
          <a:prstGeom prst="rect">
            <a:avLst/>
          </a:prstGeom>
          <a:solidFill>
            <a:srgbClr val="839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33572" y="113385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edit_file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33572" y="1426464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and modify files on the filesystem.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33572" y="1956816"/>
            <a:ext cx="227685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33572" y="2066544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logs or config files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33572" y="230428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current state of a system before taking action.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33572" y="299923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results to disk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33572" y="323697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report, patch a config, or update a document.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33572" y="393192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33572" y="4169664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targeted edits to source files as part of an automated fix.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03620" y="1005840"/>
            <a:ext cx="2606040" cy="3749040"/>
          </a:xfrm>
          <a:prstGeom prst="rect">
            <a:avLst/>
          </a:prstGeom>
          <a:solidFill>
            <a:srgbClr val="3E3330"/>
          </a:solidFill>
          <a:ln w="1905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03620" y="1005840"/>
            <a:ext cx="2606040" cy="73152"/>
          </a:xfrm>
          <a:prstGeom prst="rect">
            <a:avLst/>
          </a:prstGeom>
          <a:solidFill>
            <a:srgbClr val="839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8212" y="113385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8212" y="1426464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for real-time information — no API key needed.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8212" y="1956816"/>
            <a:ext cx="227685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8212" y="2066544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competitor pricing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8212" y="230428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current pricing pages, news, or product updates.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8212" y="299923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 company or person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8212" y="323697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background context before writing a report.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8212" y="393192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documentation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8212" y="4169664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API references, error codes, or release notes.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0F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8000" dirty="0"/>
          </a:p>
          <a:p>
            <a:pPr marL="0" indent="0" algn="ctr">
              <a:buNone/>
            </a:pPr>
            <a:r>
              <a:rPr lang="en-US" sz="8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548640" y="41605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github.com/tratch-hg/catalyst-hackathon-agent-workshop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files. Three levels.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804672"/>
            <a:ext cx="2743200" cy="3749040"/>
          </a:xfrm>
          <a:prstGeom prst="rect">
            <a:avLst/>
          </a:prstGeom>
          <a:solidFill>
            <a:srgbClr val="3E3330"/>
          </a:solidFill>
          <a:ln w="12700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2743200" cy="54864"/>
          </a:xfrm>
          <a:prstGeom prst="rect">
            <a:avLst/>
          </a:prstGeom>
          <a:solidFill>
            <a:srgbClr val="D0F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84832" y="93268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0F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84832" y="932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0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241401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Agent Loop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through six self-contained steps — from a single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client.messages.create() call all the way to a full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with tools, web search, and observability.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Hello World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Define a tool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1638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 a tool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419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4198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Agent loop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6758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67588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Full agent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Observability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804672"/>
            <a:ext cx="2743200" cy="3749040"/>
          </a:xfrm>
          <a:prstGeom prst="rect">
            <a:avLst/>
          </a:prstGeom>
          <a:solidFill>
            <a:srgbClr val="3E3330"/>
          </a:solidFill>
          <a:ln w="12700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0" y="804672"/>
            <a:ext cx="2743200" cy="54864"/>
          </a:xfrm>
          <a:prstGeom prst="rect">
            <a:avLst/>
          </a:prstGeom>
          <a:solidFill>
            <a:srgbClr val="839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64992" y="914400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agent.py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92624" y="93268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839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92624" y="932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64992" y="1444752"/>
            <a:ext cx="241401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64992" y="151790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64992" y="1901952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ReAct agent that works across multiple LLM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— Anthropic, OpenAI, DeepSeek, Groq, Ollama.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providers by changing one variable at the top.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64992" y="26517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47872" y="26517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Acting interleaved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64992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47872" y="29077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loop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64992" y="31638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47872" y="31638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+ web search tools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64992" y="3419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47872" y="34198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any model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08192" y="804672"/>
            <a:ext cx="2743200" cy="3749040"/>
          </a:xfrm>
          <a:prstGeom prst="rect">
            <a:avLst/>
          </a:prstGeom>
          <a:solidFill>
            <a:srgbClr val="3E3330"/>
          </a:solidFill>
          <a:ln w="12700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08192" y="804672"/>
            <a:ext cx="2743200" cy="54864"/>
          </a:xfrm>
          <a:prstGeom prst="rect">
            <a:avLst/>
          </a:prstGeom>
          <a:solidFill>
            <a:srgbClr val="FF83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72784" y="914400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8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competitor-intel-agent.py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00416" y="93268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FF83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00416" y="932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example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72784" y="1444752"/>
            <a:ext cx="241401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72784" y="151790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 Agent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272784" y="1901952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autonomous agent that researches a company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writes a self-contained HTML intelligence report,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optional Datadog observability tracing.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72784" y="26517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55664" y="26517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web_search, fetch_page, save_report tools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72784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55664" y="29077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agentic loop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72784" y="31638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55664" y="31638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HTML output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72784" y="3419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55664" y="34198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spans out of the box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949440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Intelligence Agent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88620" y="804672"/>
            <a:ext cx="1783080" cy="2331720"/>
          </a:xfrm>
          <a:prstGeom prst="rect">
            <a:avLst/>
          </a:prstGeom>
          <a:solidFill>
            <a:srgbClr val="3E3330"/>
          </a:solidFill>
          <a:ln w="1905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8620" y="804672"/>
            <a:ext cx="1783080" cy="91440"/>
          </a:xfrm>
          <a:prstGeom prst="rect">
            <a:avLst/>
          </a:prstGeom>
          <a:solidFill>
            <a:srgbClr val="D0F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8348" y="95097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8348" y="1207008"/>
            <a:ext cx="1563624" cy="201168"/>
          </a:xfrm>
          <a:prstGeom prst="roundRect">
            <a:avLst>
              <a:gd name="adj" fmla="val 13636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8348" y="120700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8348" y="1481328"/>
            <a:ext cx="1563624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8348" y="1554480"/>
            <a:ext cx="1563624" cy="329184"/>
          </a:xfrm>
          <a:prstGeom prst="rect">
            <a:avLst/>
          </a:prstGeom>
          <a:solidFill>
            <a:srgbClr val="1A1412"/>
          </a:solidFill>
          <a:ln w="9525">
            <a:solidFill>
              <a:srgbClr val="483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3212" y="15544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web_search("HubSpot overview")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8348" y="1938528"/>
            <a:ext cx="1563624" cy="329184"/>
          </a:xfrm>
          <a:prstGeom prst="rect">
            <a:avLst/>
          </a:prstGeom>
          <a:solidFill>
            <a:srgbClr val="1A1412"/>
          </a:solidFill>
          <a:ln w="9525">
            <a:solidFill>
              <a:srgbClr val="483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3212" y="19385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web_search("HubSpot competitors")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98348" y="2322576"/>
            <a:ext cx="1563624" cy="329184"/>
          </a:xfrm>
          <a:prstGeom prst="rect">
            <a:avLst/>
          </a:prstGeom>
          <a:solidFill>
            <a:srgbClr val="1A1412"/>
          </a:solidFill>
          <a:ln w="9525">
            <a:solidFill>
              <a:srgbClr val="483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3212" y="232257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web_search("HubSpot news")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17420" y="1970532"/>
            <a:ext cx="320040" cy="0"/>
          </a:xfrm>
          <a:prstGeom prst="line">
            <a:avLst/>
          </a:prstGeom>
          <a:noFill/>
          <a:ln w="15240">
            <a:solidFill>
              <a:srgbClr val="C8BC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63724" y="1805940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BCBB"/>
                </a:solidFill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83180" y="804672"/>
            <a:ext cx="1783080" cy="2331720"/>
          </a:xfrm>
          <a:prstGeom prst="rect">
            <a:avLst/>
          </a:prstGeom>
          <a:solidFill>
            <a:srgbClr val="3E3330"/>
          </a:solidFill>
          <a:ln w="1905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83180" y="804672"/>
            <a:ext cx="1783080" cy="91440"/>
          </a:xfrm>
          <a:prstGeom prst="rect">
            <a:avLst/>
          </a:prstGeom>
          <a:solidFill>
            <a:srgbClr val="839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92908" y="95097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92908" y="1207008"/>
            <a:ext cx="1563624" cy="201168"/>
          </a:xfrm>
          <a:prstGeom prst="roundRect">
            <a:avLst>
              <a:gd name="adj" fmla="val 13636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92908" y="120700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92908" y="1481328"/>
            <a:ext cx="1563624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92908" y="1554480"/>
            <a:ext cx="1563624" cy="329184"/>
          </a:xfrm>
          <a:prstGeom prst="rect">
            <a:avLst/>
          </a:prstGeom>
          <a:solidFill>
            <a:srgbClr val="1A1412"/>
          </a:solidFill>
          <a:ln w="9525">
            <a:solidFill>
              <a:srgbClr val="483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7772" y="15544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web_search("HubSpot pricing")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92908" y="1938528"/>
            <a:ext cx="1563624" cy="329184"/>
          </a:xfrm>
          <a:prstGeom prst="rect">
            <a:avLst/>
          </a:prstGeom>
          <a:solidFill>
            <a:srgbClr val="1A1412"/>
          </a:solidFill>
          <a:ln w="9525">
            <a:solidFill>
              <a:srgbClr val="483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7772" y="19385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web_search("HubSpot reviews")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692908" y="2322576"/>
            <a:ext cx="1563624" cy="329184"/>
          </a:xfrm>
          <a:prstGeom prst="rect">
            <a:avLst/>
          </a:prstGeom>
          <a:solidFill>
            <a:srgbClr val="1A1412"/>
          </a:solidFill>
          <a:ln w="9525">
            <a:solidFill>
              <a:srgbClr val="483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7772" y="232257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fetch_page("hubspot.com/products")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692908" y="2706624"/>
            <a:ext cx="1563624" cy="329184"/>
          </a:xfrm>
          <a:prstGeom prst="rect">
            <a:avLst/>
          </a:prstGeom>
          <a:solidFill>
            <a:srgbClr val="1A1412"/>
          </a:solidFill>
          <a:ln w="9525">
            <a:solidFill>
              <a:srgbClr val="483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7772" y="270662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fetch_page("g2.com/hubspot")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11980" y="1970532"/>
            <a:ext cx="320040" cy="0"/>
          </a:xfrm>
          <a:prstGeom prst="line">
            <a:avLst/>
          </a:prstGeom>
          <a:noFill/>
          <a:ln w="15240">
            <a:solidFill>
              <a:srgbClr val="C8BC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58284" y="1805940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BCBB"/>
                </a:solidFill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77740" y="804672"/>
            <a:ext cx="1783080" cy="2331720"/>
          </a:xfrm>
          <a:prstGeom prst="rect">
            <a:avLst/>
          </a:prstGeom>
          <a:solidFill>
            <a:srgbClr val="3E3330"/>
          </a:solidFill>
          <a:ln w="1905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77740" y="804672"/>
            <a:ext cx="1783080" cy="91440"/>
          </a:xfrm>
          <a:prstGeom prst="rect">
            <a:avLst/>
          </a:prstGeom>
          <a:solidFill>
            <a:srgbClr val="839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87468" y="95097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87468" y="1207008"/>
            <a:ext cx="1563624" cy="201168"/>
          </a:xfrm>
          <a:prstGeom prst="roundRect">
            <a:avLst>
              <a:gd name="adj" fmla="val 13636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87468" y="120700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87468" y="1481328"/>
            <a:ext cx="1563624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87468" y="1554480"/>
            <a:ext cx="1563624" cy="329184"/>
          </a:xfrm>
          <a:prstGeom prst="rect">
            <a:avLst/>
          </a:prstGeom>
          <a:solidFill>
            <a:srgbClr val="1A1412"/>
          </a:solidFill>
          <a:ln w="9525">
            <a:solidFill>
              <a:srgbClr val="483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42332" y="15544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web_search("HubSpot vs Salesforce")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87468" y="1938528"/>
            <a:ext cx="1563624" cy="329184"/>
          </a:xfrm>
          <a:prstGeom prst="rect">
            <a:avLst/>
          </a:prstGeom>
          <a:solidFill>
            <a:srgbClr val="1A1412"/>
          </a:solidFill>
          <a:ln w="9525">
            <a:solidFill>
              <a:srgbClr val="483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42332" y="19385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fetch_page("comparison page")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606540" y="1970532"/>
            <a:ext cx="320040" cy="0"/>
          </a:xfrm>
          <a:prstGeom prst="line">
            <a:avLst/>
          </a:prstGeom>
          <a:noFill/>
          <a:ln w="15240">
            <a:solidFill>
              <a:srgbClr val="C8BC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52844" y="1805940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BCBB"/>
                </a:solidFill>
              </a:rPr>
              <a:t>›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972300" y="804672"/>
            <a:ext cx="1783080" cy="2331720"/>
          </a:xfrm>
          <a:prstGeom prst="rect">
            <a:avLst/>
          </a:prstGeom>
          <a:solidFill>
            <a:srgbClr val="3E3330"/>
          </a:solidFill>
          <a:ln w="19050">
            <a:solidFill>
              <a:srgbClr val="FF83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972300" y="804672"/>
            <a:ext cx="1783080" cy="91440"/>
          </a:xfrm>
          <a:prstGeom prst="rect">
            <a:avLst/>
          </a:prstGeom>
          <a:solidFill>
            <a:srgbClr val="FF83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82028" y="95097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082028" y="1207008"/>
            <a:ext cx="1563624" cy="201168"/>
          </a:xfrm>
          <a:prstGeom prst="roundRect">
            <a:avLst>
              <a:gd name="adj" fmla="val 13636"/>
            </a:avLst>
          </a:prstGeom>
          <a:solidFill>
            <a:srgbClr val="D0F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82028" y="120700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02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end_turn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082028" y="1481328"/>
            <a:ext cx="1563624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082028" y="1554480"/>
            <a:ext cx="1563624" cy="329184"/>
          </a:xfrm>
          <a:prstGeom prst="rect">
            <a:avLst/>
          </a:prstGeom>
          <a:solidFill>
            <a:srgbClr val="1A1412"/>
          </a:solidFill>
          <a:ln w="9525">
            <a:solidFill>
              <a:srgbClr val="483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36892" y="15544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save_report(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"hubspot_intelligence.html",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"&lt;html&gt;...")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88620" y="3264408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9525">
            <a:solidFill>
              <a:srgbClr val="D0FF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0060" y="3300984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Thought: </a:t>
            </a:r>
            <a:r>
              <a:rPr lang="en-US" sz="800" i="1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broad overview. I need pricing and customer sentiment.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583180" y="3264408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9525">
            <a:solidFill>
              <a:srgbClr val="8393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674620" y="3300984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Thought: </a:t>
            </a:r>
            <a:r>
              <a:rPr lang="en-US" sz="800" i="1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pricing and reviews. One more competitive search and I can write.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77740" y="3264408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E1B18"/>
          </a:solidFill>
          <a:ln w="9525">
            <a:solidFill>
              <a:srgbClr val="8393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69180" y="3300984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Thought: </a:t>
            </a:r>
            <a:r>
              <a:rPr lang="en-US" sz="800" i="1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data across all areas. Ready to write the report.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972300" y="3264408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D0FF2A">
              <a:alpha val="15000"/>
            </a:srgbClr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063740" y="326440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exits → hubspot_intelligence.html saved to disk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1480" y="4315968"/>
            <a:ext cx="2676144" cy="512064"/>
          </a:xfrm>
          <a:prstGeom prst="rect">
            <a:avLst/>
          </a:prstGeom>
          <a:solidFill>
            <a:srgbClr val="3E3330"/>
          </a:solidFill>
          <a:ln w="1270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21208" y="4315968"/>
            <a:ext cx="2474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web_search(query)</a:t>
            </a:r>
            <a:r>
              <a:rPr lang="en-US" sz="8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Searches DuckDuckGo — returns titles, URLs, snippets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233928" y="4315968"/>
            <a:ext cx="2676144" cy="512064"/>
          </a:xfrm>
          <a:prstGeom prst="rect">
            <a:avLst/>
          </a:prstGeom>
          <a:solidFill>
            <a:srgbClr val="3E3330"/>
          </a:solidFill>
          <a:ln w="1270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343656" y="4315968"/>
            <a:ext cx="2474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fetch_page(url)</a:t>
            </a:r>
            <a:r>
              <a:rPr lang="en-US" sz="8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Fetches a page and strips to clean text (6 000 char cap)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056376" y="4315968"/>
            <a:ext cx="2676144" cy="512064"/>
          </a:xfrm>
          <a:prstGeom prst="rect">
            <a:avLst/>
          </a:prstGeom>
          <a:solidFill>
            <a:srgbClr val="3E3330"/>
          </a:solidFill>
          <a:ln w="12700">
            <a:solidFill>
              <a:srgbClr val="FF83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166104" y="4315968"/>
            <a:ext cx="2474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save_report(filename, html)</a:t>
            </a:r>
            <a:r>
              <a:rPr lang="en-US" sz="8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Writes the finished HTML report to disk — called exactly once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949440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02826"/>
          </a:solidFill>
          <a:ln w="12700">
            <a:solidFill>
              <a:srgbClr val="302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Taxonomy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" y="804672"/>
            <a:ext cx="2606040" cy="3749040"/>
          </a:xfrm>
          <a:prstGeom prst="rect">
            <a:avLst/>
          </a:prstGeom>
          <a:solidFill>
            <a:srgbClr val="3E3330"/>
          </a:solidFill>
          <a:ln w="1905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4340" y="804672"/>
            <a:ext cx="2606040" cy="73152"/>
          </a:xfrm>
          <a:prstGeom prst="rect">
            <a:avLst/>
          </a:prstGeom>
          <a:solidFill>
            <a:srgbClr val="D0F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8932" y="93268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Foreground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8932" y="1371600"/>
            <a:ext cx="2276856" cy="201168"/>
          </a:xfrm>
          <a:prstGeom prst="roundRect">
            <a:avLst>
              <a:gd name="adj" fmla="val 18182"/>
            </a:avLst>
          </a:prstGeom>
          <a:solidFill>
            <a:srgbClr val="D0FF2A">
              <a:alpha val="20000"/>
            </a:srgbClr>
          </a:solidFill>
          <a:ln w="9525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8932" y="137160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932" y="1645920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loop. Interactive, real-time. The agent acts alongside you.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" y="2157984"/>
            <a:ext cx="227685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8932" y="226771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" y="2505456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feature in plain English — it writes the code, runs tests, and iterates until it works.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8932" y="336499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support agent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932" y="3602736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 user query in real time, looks up account data, resolves the issue, escalates if needed.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68980" y="804672"/>
            <a:ext cx="2606040" cy="3749040"/>
          </a:xfrm>
          <a:prstGeom prst="rect">
            <a:avLst/>
          </a:prstGeom>
          <a:solidFill>
            <a:srgbClr val="3E3330"/>
          </a:solidFill>
          <a:ln w="1905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68980" y="804672"/>
            <a:ext cx="2606040" cy="73152"/>
          </a:xfrm>
          <a:prstGeom prst="rect">
            <a:avLst/>
          </a:prstGeom>
          <a:solidFill>
            <a:srgbClr val="839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33572" y="93268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Reactive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33572" y="1371600"/>
            <a:ext cx="2276856" cy="201168"/>
          </a:xfrm>
          <a:prstGeom prst="roundRect">
            <a:avLst>
              <a:gd name="adj" fmla="val 18182"/>
            </a:avLst>
          </a:prstGeom>
          <a:solidFill>
            <a:srgbClr val="8393FF">
              <a:alpha val="20000"/>
            </a:srgbClr>
          </a:solidFill>
          <a:ln w="9525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33572" y="137160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33572" y="1645920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an event. Runs a reasoning loop, produces an output.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33572" y="2157984"/>
            <a:ext cx="227685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33572" y="226771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AI SRE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33572" y="2505456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paged when something breaks, pulls logs, reasons through the cause, applies a fix.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33572" y="336499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intelligence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33572" y="3602736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company name — it searches the web, synthesises findings, writes a structured report.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03620" y="804672"/>
            <a:ext cx="2606040" cy="3749040"/>
          </a:xfrm>
          <a:prstGeom prst="rect">
            <a:avLst/>
          </a:prstGeom>
          <a:solidFill>
            <a:srgbClr val="3E3330"/>
          </a:solidFill>
          <a:ln w="19050">
            <a:solidFill>
              <a:srgbClr val="FF83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03620" y="804672"/>
            <a:ext cx="2606040" cy="73152"/>
          </a:xfrm>
          <a:prstGeom prst="rect">
            <a:avLst/>
          </a:prstGeom>
          <a:solidFill>
            <a:srgbClr val="FF83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68212" y="93268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68212" y="1371600"/>
            <a:ext cx="2276856" cy="201168"/>
          </a:xfrm>
          <a:prstGeom prst="roundRect">
            <a:avLst>
              <a:gd name="adj" fmla="val 18182"/>
            </a:avLst>
          </a:prstGeom>
          <a:solidFill>
            <a:srgbClr val="FF8387">
              <a:alpha val="20000"/>
            </a:srgbClr>
          </a:solidFill>
          <a:ln w="9525">
            <a:solidFill>
              <a:srgbClr val="FF83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68212" y="137160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/ Cron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8212" y="1645920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in the loop. Runs on a schedule. Does real maintenance work.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68212" y="2157984"/>
            <a:ext cx="227685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68212" y="226771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update agent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68212" y="2505456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repos weekly for vulnerable packages, evaluates breaking changes, opens a PR with the fix.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8212" y="336499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right-sizer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68212" y="3602736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cloud spend on a schedule, identifies over-provisioned resources, scales them down automatically.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28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E825B-DB4E-F0A1-B62C-92122500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C2A33A-44D5-4F11-3097-2DAFF2A74B2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02826"/>
          </a:solidFill>
          <a:ln w="12700">
            <a:solidFill>
              <a:srgbClr val="3028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C0F69A-D7CE-86CF-AA81-71875DD726BC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D0FF2A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655F55-658F-5EB5-97EA-11155E89406D}"/>
              </a:ext>
            </a:extLst>
          </p:cNvPr>
          <p:cNvSpPr/>
          <p:nvPr/>
        </p:nvSpPr>
        <p:spPr>
          <a:xfrm>
            <a:off x="256032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Taxonomy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016533-83FB-CFA2-AEF1-C7CC3FE88CDA}"/>
              </a:ext>
            </a:extLst>
          </p:cNvPr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0D05CE1-3FAF-C546-4E3A-3D266D291A6C}"/>
              </a:ext>
            </a:extLst>
          </p:cNvPr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BDFB191-9EEA-3A58-EB8F-00A74C106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664" y="685800"/>
            <a:ext cx="4736978" cy="410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40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Evals Matter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73152" cy="2377440"/>
          </a:xfrm>
          <a:prstGeom prst="rect">
            <a:avLst/>
          </a:prstGeom>
          <a:solidFill>
            <a:srgbClr val="D0F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00584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0FF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reported having AI agent pilots underway. Only </a:t>
            </a:r>
            <a:r>
              <a:rPr lang="en-US" sz="3000" b="1" dirty="0">
                <a:solidFill>
                  <a:srgbClr val="D0FF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had moved those agents into production.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51129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Jeetu Patel, President &amp; CPO, Cisco (2026)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931920"/>
            <a:ext cx="8321040" cy="36576"/>
          </a:xfrm>
          <a:prstGeom prst="rect">
            <a:avLst/>
          </a:prstGeom>
          <a:solidFill>
            <a:srgbClr val="3E3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05993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0FF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 80-point gap is an evals problem.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 Frameworks for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task completion, tool call accuracy, trajectory faithfulness, and output quality.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61772" y="1005840"/>
            <a:ext cx="1938528" cy="3566160"/>
          </a:xfrm>
          <a:prstGeom prst="rect">
            <a:avLst/>
          </a:prstGeom>
          <a:solidFill>
            <a:srgbClr val="3E3330"/>
          </a:solidFill>
          <a:ln w="1905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1772" y="1005840"/>
            <a:ext cx="1938528" cy="64008"/>
          </a:xfrm>
          <a:prstGeom prst="rect">
            <a:avLst/>
          </a:prstGeom>
          <a:solidFill>
            <a:srgbClr val="D0F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9788" y="11155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Braintrust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" y="1426464"/>
            <a:ext cx="1682496" cy="182880"/>
          </a:xfrm>
          <a:prstGeom prst="roundRect">
            <a:avLst>
              <a:gd name="adj" fmla="val 15000"/>
            </a:avLst>
          </a:prstGeom>
          <a:solidFill>
            <a:srgbClr val="D0FF2A">
              <a:alpha val="20000"/>
            </a:srgbClr>
          </a:solidFill>
          <a:ln w="9525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9788" y="142646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9788" y="1664208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scoring, dataset management, and tracing in one platform. Best DX for teams shipping agents to production.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89788" y="2523744"/>
            <a:ext cx="168249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9788" y="2633472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scoring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9788" y="3236976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prompts and models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9788" y="3840480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agent step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9788" y="43159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braintrust.dev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55748" y="1005840"/>
            <a:ext cx="1938528" cy="3566160"/>
          </a:xfrm>
          <a:prstGeom prst="rect">
            <a:avLst/>
          </a:prstGeom>
          <a:solidFill>
            <a:srgbClr val="3E3330"/>
          </a:solidFill>
          <a:ln w="1905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55748" y="1005840"/>
            <a:ext cx="1938528" cy="64008"/>
          </a:xfrm>
          <a:prstGeom prst="rect">
            <a:avLst/>
          </a:prstGeom>
          <a:solidFill>
            <a:srgbClr val="839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83764" y="11155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DeepEval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83764" y="1426464"/>
            <a:ext cx="1682496" cy="182880"/>
          </a:xfrm>
          <a:prstGeom prst="roundRect">
            <a:avLst>
              <a:gd name="adj" fmla="val 15000"/>
            </a:avLst>
          </a:prstGeom>
          <a:solidFill>
            <a:srgbClr val="8393FF">
              <a:alpha val="20000"/>
            </a:srgbClr>
          </a:solidFill>
          <a:ln w="9525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83764" y="142646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83764" y="1664208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LLM apps. Has agent-specific metrics out of the box: tool correctness, task completion, trajectory.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83764" y="2523744"/>
            <a:ext cx="168249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83764" y="2633472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correctness metric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83764" y="3236976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&amp; G-Eval scoring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83764" y="3840480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pytest-style test runner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83764" y="43159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github.com/confident-ai/deepeval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49724" y="1005840"/>
            <a:ext cx="1938528" cy="3566160"/>
          </a:xfrm>
          <a:prstGeom prst="rect">
            <a:avLst/>
          </a:prstGeom>
          <a:solidFill>
            <a:srgbClr val="3E3330"/>
          </a:solidFill>
          <a:ln w="1905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49724" y="1005840"/>
            <a:ext cx="1938528" cy="64008"/>
          </a:xfrm>
          <a:prstGeom prst="rect">
            <a:avLst/>
          </a:prstGeom>
          <a:solidFill>
            <a:srgbClr val="839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7740" y="11155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LangSmith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77740" y="1426464"/>
            <a:ext cx="1682496" cy="182880"/>
          </a:xfrm>
          <a:prstGeom prst="roundRect">
            <a:avLst>
              <a:gd name="adj" fmla="val 15000"/>
            </a:avLst>
          </a:prstGeom>
          <a:solidFill>
            <a:srgbClr val="8393FF">
              <a:alpha val="20000"/>
            </a:srgbClr>
          </a:solidFill>
          <a:ln w="9525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77740" y="142646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+ evals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77740" y="1664208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observability with evaluation — log every trace, then run evals over the same dataset. Works with any LLM framework.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77740" y="2523744"/>
            <a:ext cx="168249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7740" y="2633472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full agent runs automatically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7740" y="3236976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annotation + LLM grading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77740" y="3840480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evals in production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77740" y="43159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smith.langchain.com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743700" y="1005840"/>
            <a:ext cx="1938528" cy="3566160"/>
          </a:xfrm>
          <a:prstGeom prst="rect">
            <a:avLst/>
          </a:prstGeom>
          <a:solidFill>
            <a:srgbClr val="3E3330"/>
          </a:solidFill>
          <a:ln w="19050">
            <a:solidFill>
              <a:srgbClr val="FF83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43700" y="1005840"/>
            <a:ext cx="1938528" cy="64008"/>
          </a:xfrm>
          <a:prstGeom prst="rect">
            <a:avLst/>
          </a:prstGeom>
          <a:solidFill>
            <a:srgbClr val="FF83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71716" y="11155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PromptFoo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71716" y="1426464"/>
            <a:ext cx="1682496" cy="182880"/>
          </a:xfrm>
          <a:prstGeom prst="roundRect">
            <a:avLst>
              <a:gd name="adj" fmla="val 15000"/>
            </a:avLst>
          </a:prstGeom>
          <a:solidFill>
            <a:srgbClr val="FF8387">
              <a:alpha val="20000"/>
            </a:srgbClr>
          </a:solidFill>
          <a:ln w="9525">
            <a:solidFill>
              <a:srgbClr val="FF83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71716" y="142646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CLI-first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71716" y="1664208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open-source testing via a YAML config. Great for regression testing prompts and tool schemas before shipping.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871716" y="2523744"/>
            <a:ext cx="1682496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71716" y="2633472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YAML-based test definitions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71716" y="3236976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&amp; safety checks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71716" y="3840480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side by side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71716" y="43159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8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promptfoo.dev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949440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Observability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improve what you can't see. Observability tells you what your agent did, why, and how much it cost.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33472" cy="2523744"/>
          </a:xfrm>
          <a:prstGeom prst="rect">
            <a:avLst/>
          </a:prstGeom>
          <a:solidFill>
            <a:srgbClr val="3E3330"/>
          </a:solidFill>
          <a:ln w="1905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33472" cy="64008"/>
          </a:xfrm>
          <a:prstGeom prst="rect">
            <a:avLst/>
          </a:prstGeom>
          <a:solidFill>
            <a:srgbClr val="D0F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3504" y="112471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0FF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1463040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 captures the full execution path of one agent run — every LLM call, tool invocation, and its inputs and outputs, stitched together in order.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504" y="2267712"/>
            <a:ext cx="2340864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504" y="237744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which tools were called and why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" y="27614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unnecessary steps or loops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" y="314553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any run to debug failures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55264" y="1005840"/>
            <a:ext cx="2633472" cy="2523744"/>
          </a:xfrm>
          <a:prstGeom prst="rect">
            <a:avLst/>
          </a:prstGeom>
          <a:solidFill>
            <a:srgbClr val="3E3330"/>
          </a:solidFill>
          <a:ln w="1905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55264" y="1005840"/>
            <a:ext cx="2633472" cy="64008"/>
          </a:xfrm>
          <a:prstGeom prst="rect">
            <a:avLst/>
          </a:prstGeom>
          <a:solidFill>
            <a:srgbClr val="839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01568" y="112471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39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01568" y="1463040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signals across many runs — so you can understand cost, speed, and reliability at a system level rather than one run at a time.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01568" y="2267712"/>
            <a:ext cx="2340864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01568" y="237744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and cost per run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01568" y="27614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step and end-to-end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01568" y="314553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frequency and error rates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53328" y="1005840"/>
            <a:ext cx="2633472" cy="2523744"/>
          </a:xfrm>
          <a:prstGeom prst="rect">
            <a:avLst/>
          </a:prstGeom>
          <a:solidFill>
            <a:srgbClr val="3E3330"/>
          </a:solidFill>
          <a:ln w="19050">
            <a:solidFill>
              <a:srgbClr val="FF83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53328" y="1005840"/>
            <a:ext cx="2633472" cy="64008"/>
          </a:xfrm>
          <a:prstGeom prst="rect">
            <a:avLst/>
          </a:prstGeom>
          <a:solidFill>
            <a:srgbClr val="FF83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9632" y="112471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3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9632" y="1463040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thresholds on cost, latency, or behaviour so you're notified the moment something breaks or drifts — before your users notice.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99632" y="2267712"/>
            <a:ext cx="2340864" cy="0"/>
          </a:xfrm>
          <a:prstGeom prst="line">
            <a:avLst/>
          </a:prstGeom>
          <a:noFill/>
          <a:ln w="9525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99632" y="237744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cost spikes or runaway loops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99632" y="27614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unexpected tool sequences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99632" y="314553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prompt injection attempts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675888"/>
            <a:ext cx="1956816" cy="914400"/>
          </a:xfrm>
          <a:prstGeom prst="rect">
            <a:avLst/>
          </a:prstGeom>
          <a:solidFill>
            <a:srgbClr val="3E3330"/>
          </a:solidFill>
          <a:ln w="1270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208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LLM Observability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" y="4023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Enterprise-grade. Nested spans for every agent step.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" y="4370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datadoghq.com/llm-obs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32888" y="3675888"/>
            <a:ext cx="1956816" cy="914400"/>
          </a:xfrm>
          <a:prstGeom prst="rect">
            <a:avLst/>
          </a:prstGeom>
          <a:solidFill>
            <a:srgbClr val="3E3330"/>
          </a:solidFill>
          <a:ln w="12700">
            <a:solidFill>
              <a:srgbClr val="839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42616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3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642616" y="4023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source. Trace any LLM app, no vendor lock-in.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42616" y="4370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39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phoenix.arize.com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54296" y="3675888"/>
            <a:ext cx="1956816" cy="914400"/>
          </a:xfrm>
          <a:prstGeom prst="rect">
            <a:avLst/>
          </a:prstGeom>
          <a:solidFill>
            <a:srgbClr val="3E3330"/>
          </a:solidFill>
          <a:ln w="12700">
            <a:solidFill>
              <a:srgbClr val="FF83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64024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 Weave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64024" y="4023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with ML teams. Traces pair with experiments.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64024" y="4370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8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wandb.ai/weave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75704" y="3675888"/>
            <a:ext cx="1956816" cy="914400"/>
          </a:xfrm>
          <a:prstGeom prst="rect">
            <a:avLst/>
          </a:prstGeom>
          <a:solidFill>
            <a:srgbClr val="3E3330"/>
          </a:solidFill>
          <a:ln w="12700">
            <a:solidFill>
              <a:srgbClr val="D0F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85432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F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85432" y="4023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proxy. Zero code changes to get started.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85432" y="4370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helicone.ai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49440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0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109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&lt;hg_catalyst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BC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hg_catalyst  |  Build an Agent Workshop  |  April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73152" cy="2560320"/>
          </a:xfrm>
          <a:prstGeom prst="rect">
            <a:avLst/>
          </a:prstGeom>
          <a:solidFill>
            <a:srgbClr val="D0F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417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749808" y="2487168"/>
            <a:ext cx="7315200" cy="0"/>
          </a:xfrm>
          <a:prstGeom prst="line">
            <a:avLst/>
          </a:prstGeom>
          <a:noFill/>
          <a:ln w="12700">
            <a:solidFill>
              <a:srgbClr val="3E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6334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Tristan Ratchford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0540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B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CTO, HG Catalyst</a:t>
            </a:r>
            <a:endParaRPr lang="en-US" sz="14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749808" y="3493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D0F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tristan.ratchford@hgcapital.com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686CC02-43E2-7040-ADD0-9F981DFCB18C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71f0c7ec-596f-43fb-b8f3-788b579d4b4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1968</Words>
  <Application>Microsoft Macintosh PowerPoint</Application>
  <PresentationFormat>On-screen Show (16:9)</PresentationFormat>
  <Paragraphs>333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an Autonomous Agent in 30 Minutes</dc:title>
  <dc:subject>PptxGenJS Presentation</dc:subject>
  <dc:creator>Tristan Ratchford</dc:creator>
  <cp:lastModifiedBy>Tristan Ratchford</cp:lastModifiedBy>
  <cp:revision>4</cp:revision>
  <dcterms:created xsi:type="dcterms:W3CDTF">2026-04-28T03:06:21Z</dcterms:created>
  <dcterms:modified xsi:type="dcterms:W3CDTF">2026-04-29T11:27:25Z</dcterms:modified>
</cp:coreProperties>
</file>